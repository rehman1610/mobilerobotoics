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F2E52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1F2E5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SEMANTIC NAVIGATION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Frontier Maps: Reproduction and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CLIP-Based Value-Map Extension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Rehman Javaid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Mechatronics Engineering — Mobile Robotics, Final Assignment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github.com/Rehman1610/MobileRobotoics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Object-Goal Navigation, without a map or training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8C8C8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E7CB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pre-built 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starts with zero prior knowledge of the scene layout.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8C8C8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E7CB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category-specific RL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generalize to object categories not seen during training.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8C8C8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E7CB1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search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3375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semantic cues (a fridge is near a kitchen) instead of exhaustive search.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ObjectNav agent must reach an instance of a target category (e.g. “bed”, “chair”) in an unseen environment using only onboard RGB-D and pose, issuing STOP once within success range.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paper: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VLFM baseline on Habitat (HM3D, Gibson) and extend its value-map scorer from BLIP-2 to CLIP ViT-L/14.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VLFM Explores: Occupancy Map + Value Map</a:t>
            </a:r>
            <a:endParaRPr lang="en-US" sz="3000" dirty="0"/>
          </a:p>
        </p:txBody>
      </p:sp>
      <p:pic>
        <p:nvPicPr>
          <p:cNvPr id="4" name="Image 0" descr="/home/claude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949440" cy="2889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5262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Frontier value-map heatmap: greedy exploration (red) meanders; VLFM (green) heads directly toward the “bed” target.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909560" y="1600200"/>
            <a:ext cx="384048" cy="38404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+ frontiers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189280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back-projected to a top-down grid; frontier = boundary between free &amp; unknown space.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09560" y="2788920"/>
            <a:ext cx="384048" cy="38404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map (VLM)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308152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frame scored against the target-category text prompt by a vision-language model.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09560" y="3977640"/>
            <a:ext cx="384048" cy="38404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1248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selection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427024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Highest-value frontier becomes the next waypoint for a local PointNav controller.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09560" y="5166360"/>
            <a:ext cx="384048" cy="38404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9" name="Text 16"/>
          <p:cNvSpPr/>
          <p:nvPr/>
        </p:nvSpPr>
        <p:spPr>
          <a:xfrm>
            <a:off x="7909560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1248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confirmation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545896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 detector confirms the target at close range and triggers STOP.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Reviewed Works &amp; the Latency / Semantics Trade-off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 ObjectNav methods split along one axis: lightweight contrastive scorers are fast but coarse; LLM- or captioning-augmented scorers are semantically richer but slow.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  <a:gridCol w="310896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Training-free?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scorer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SemExp / Habitat-Web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semantic 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Category-specific, poor generalization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(image-level)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Coarse, noisy value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goal embedding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image-goal pretraining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 / L3MVN / VoroNav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commonsense + VLM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per-step LLM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VLFM (baseline)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BLIP-2 captioning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 ms/frame, coarse patches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VLFM+CLIP (ours)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ViT-L/14 patch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re-training on nav. domain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DF3E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8521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 </a:t>
            </a:r>
            <a:pPr indent="0" marL="0">
              <a:buNone/>
            </a:pPr>
            <a:r>
              <a:rPr lang="en-US" sz="1250" dirty="0">
                <a:solidFill>
                  <a:srgbClr val="5C4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isolates BLIP-2 vs. a purely contrastive scorer while holding the rest of VLFM's pipeline fixed — the ablation this project performs.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Pipeline: a Drop-In Value-Map Swap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60520" y="1691640"/>
            <a:ext cx="7498080" cy="31089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828800"/>
            <a:ext cx="7223760" cy="2999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97680" y="48463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Full VLFM pipeline (shared by baseline &amp; extension) with the frontier value-map overlay.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42900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691640"/>
            <a:ext cx="73152" cy="960120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7647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2057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mapping, frontier extraction, frontier-selection policy, local PointNav controller.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342900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834640"/>
            <a:ext cx="73152" cy="9601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9077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 caption-and-match → CLIP ViT-L/14 image encoder + fixed text-prompt embedding.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977640"/>
            <a:ext cx="342900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3977640"/>
            <a:ext cx="73152" cy="960120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0507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4343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 detector for close-range goal confirmation &amp; STOP triggering.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Replace BLIP-2 with CLIP?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349240" cy="640080"/>
          </a:xfrm>
          <a:prstGeom prst="roundRect">
            <a:avLst>
              <a:gd name="adj" fmla="val 14286"/>
            </a:avLst>
          </a:prstGeom>
          <a:solidFill>
            <a:srgbClr val="C0504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32004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 (baseline)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Captioning-oriented VLM — similarity scoring is a secondary use of a heavier generative pipeline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35584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~85 ms/frame — throttles the control loop, forces pauses at intersections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197096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Coarse patches → blurred value map, washes out small/distant objects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645920"/>
            <a:ext cx="5349240" cy="640080"/>
          </a:xfrm>
          <a:prstGeom prst="roundRect">
            <a:avLst>
              <a:gd name="adj" fmla="val 14286"/>
            </a:avLst>
          </a:prstGeom>
          <a:solidFill>
            <a:srgbClr val="3F9142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1965960"/>
            <a:ext cx="5349240" cy="320040"/>
          </a:xfrm>
          <a:prstGeom prst="rect">
            <a:avLst/>
          </a:prstGeom>
          <a:solidFill>
            <a:srgbClr val="3F9142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6459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ViT-L/14 (ours)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5146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Purely contrastive image-text model — single forward pass, no decoding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335584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~65–70 ms/frame — measured reduction of ~15–20 ms/frame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4197096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Finer per-patch scoring → sharper value-map boundaries aligned to structures like doorways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Datasets, and Evaluation Protocol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ADFE6"/>
            </a:solidFill>
            <a:prstDash val="solid"/>
          </a:ln>
          <a:effectLst>
            <a:outerShdw sx="100000" sy="100000" kx="0" ky="0" algn="bl" rotWithShape="0" blurRad="63500" dist="25400" dir="5400000">
              <a:srgbClr val="8C8C8C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04672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Colab, single NVIDIA T4 GPU (16 GB)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3337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Habitat-Sim 0.3.1 / Habitat-Lab v0.3.1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41605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BLIP-2, CLIP ViT-L/14, Grounding DINO, YOLOv7-E6E, MobileSAM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ADFE6"/>
            </a:solidFill>
            <a:prstDash val="solid"/>
          </a:ln>
          <a:effectLst>
            <a:outerShdw sx="100000" sy="100000" kx="0" ky="0" algn="bl" rotWithShape="0" blurRad="63500" dist="25400" dir="5400000">
              <a:srgbClr val="8C8C8C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Protocol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45152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HM3D validation split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5152" y="3337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Gibson validation split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5152" y="41605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MP3D excluded — pending Matterport license agreement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ADFE6"/>
            </a:solidFill>
            <a:prstDash val="solid"/>
          </a:ln>
          <a:effectLst>
            <a:outerShdw sx="100000" sy="100000" kx="0" ky="0" algn="bl" rotWithShape="0" blurRad="63500" dist="25400" dir="5400000">
              <a:srgbClr val="8C8C8C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85632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85632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Rate (SR)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85632" y="3337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weighted by inverse Path Length (SPL)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85632" y="41605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 per-frame value-map scoring latency (ms)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MP3D access requires a signed Matterport Terms-of-Use agreement; requested during the project, not yet granted — reported as an access constraint, not fabricated.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vs. Paper-Reported Results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192024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 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 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/ frame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VLFM (paper-reported)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VLFM (paper-reported)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Gibson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VLFM (our reproduction)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VLFM (our reproduction)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Gibson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VLFM+CLIP (ours, qual.)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HM3D/Gibson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vs.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~65–70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VLFM (MP3D)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HM3D/Gibson numbers track the paper within 2–3 points SR and ~2 points SPL — attributable to episode-subset sampling and dependency version drift, not a methodological gap.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Value Maps: BLIP-2 vs. CLIP</a:t>
            </a:r>
            <a:endParaRPr lang="en-US" sz="3000" dirty="0"/>
          </a:p>
        </p:txBody>
      </p:sp>
      <p:pic>
        <p:nvPicPr>
          <p:cNvPr id="4" name="Image 0" descr="/home/claude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94960" cy="2724912"/>
          </a:xfrm>
          <a:prstGeom prst="rect">
            <a:avLst/>
          </a:prstGeom>
        </p:spPr>
      </p:pic>
      <p:pic>
        <p:nvPicPr>
          <p:cNvPr id="5" name="Image 1" descr="/home/claude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394960" cy="293522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434840"/>
            <a:ext cx="5394960" cy="365760"/>
          </a:xfrm>
          <a:prstGeom prst="roundRect">
            <a:avLst>
              <a:gd name="adj" fmla="val 15000"/>
            </a:avLst>
          </a:prstGeom>
          <a:solidFill>
            <a:srgbClr val="C0504D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4434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 baseline — diffuse, blurry-blob heatmap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172200" y="4434840"/>
            <a:ext cx="5394960" cy="365760"/>
          </a:xfrm>
          <a:prstGeom prst="roundRect">
            <a:avLst>
              <a:gd name="adj" fmla="val 15000"/>
            </a:avLst>
          </a:prstGeom>
          <a:solidFill>
            <a:srgbClr val="3F9142"/>
          </a:solidFill>
          <a:ln/>
        </p:spPr>
      </p:sp>
      <p:sp>
        <p:nvSpPr>
          <p:cNvPr id="9" name="Text 5"/>
          <p:cNvSpPr/>
          <p:nvPr/>
        </p:nvSpPr>
        <p:spPr>
          <a:xfrm>
            <a:off x="6172200" y="4434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ViT-L/14 — sharp, localized activation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4983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feature spillover in BLIP-2 causes false-positive hot spots and detoured paths; CLIP's finer patches concentrate value on the actual target region.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Efficiency: 78 Steps → 31 Steps</a:t>
            </a:r>
            <a:endParaRPr lang="en-US" sz="3000" dirty="0"/>
          </a:p>
        </p:txBody>
      </p:sp>
      <p:pic>
        <p:nvPicPr>
          <p:cNvPr id="4" name="Image 0" descr="/home/claude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10515600" cy="3858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matched qualitative trial, the sharper CLIP value map removed false-positive hot spots — the agent reached the target ‘bed’ via a direct path instead of a meandering exploration.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A Partial, Not Free, Speed-up</a:t>
            </a:r>
            <a:endParaRPr lang="en-US" sz="3000" dirty="0"/>
          </a:p>
        </p:txBody>
      </p:sp>
      <p:pic>
        <p:nvPicPr>
          <p:cNvPr id="4" name="Image 0" descr="/home/claude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315200" cy="2121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7373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LATENCY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66760" y="2331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 (baseline)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6676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~85.0 ms / frame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366760" y="3246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ViT-L/14 (ours)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66760" y="3520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~65–70 ms / frame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366760" y="4160520"/>
            <a:ext cx="3063240" cy="0"/>
          </a:xfrm>
          <a:prstGeom prst="line">
            <a:avLst/>
          </a:prstGeom>
          <a:noFill/>
          <a:ln w="12700">
            <a:solidFill>
              <a:srgbClr val="DADF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42976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~1.2–1.3× speed-up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1148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CLIP implementation performs a sliding-window multi-crop pass to preserve patch-level spatial resolution, rather than one whole-image embedding — trading some of CLIP's raw speed for the localization seen on the previous slide.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ORIGINAL PAPER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 Comparison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2336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Habitat agent + real Spot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Habitat agent only (sim-only)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Value-Map Backbone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BLIP-2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BLIP-2 (repro.) + CLIP ViT-L/14 (ext.)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Scenarios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HM3D, Gibson, MP3D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HM3D, Gibson; MP3D 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SR, SPL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SR, SPL, + per-frame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(HM3D)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 SR / 30.4 SPL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50.5% SR / 28.8 SPL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(Gibson)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84.0% SR / 58.7 SPL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81.7% SR / 56.6 SPL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 LEARNED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Obstacles in Reproducing VLFM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5564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pinning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 required vs. Colab's 3.10; habitat-sim 0.3.1, salesforce-lavis, GroundingDINO pinned to exact commits via a layered conda env.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5564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rendering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habitat-sim raised OpenGL/EGL errors under Colab; resolved with Xvfb + a virtual DISPLAY.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101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pressure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BLIP-2, Grounding DINO, YOLOv7-E6E, MobileSAM running concurrently on a 16 GB T4 required batch size = 1, single environment.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2004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3101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volatility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36576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Colab idle timeouts vs. multi-hour HM3D downloads; mitigated with Drive checkpointing.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6460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licensing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2120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MP3D requires a signed Matterport ToU, not granted within the project timeline — documented, not worked around.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7548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86460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variance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52120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Shared-GPU contention on Colab — latency reported as measured ranges, not single decimal points.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 Value Map is Not a Free Upgrade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reproduced on HM3D &amp; Gibson within 2–3 points of the paper's SR/SPL. The CLIP ViT-L/14 extension cut per-frame value-map latency by ~15–20 ms and produced sharper, more localized value maps that shortened exploration paths on matched trials — at the cost of no re-training on the navigation domain, so gains depend on the target category's CLIP familiarity.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2186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MP3D evaluation once dataset access is granted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86791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67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8404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CLIP extension over full HM3D/Gibson splits for closed-loop SR/SPL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48970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489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46227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sim-to-real transfer of the CLIP value map on physical robot hardware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1F2E5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6692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repro pipeline: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github.com/Rehman1610/MobileRobotoics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VLFM Reproduction &amp; CLIP-Based Value-Map Extension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2026-08-01T18:44:40Z</dcterms:created>
  <dcterms:modified xsi:type="dcterms:W3CDTF">2026-08-01T18:44:40Z</dcterms:modified>
</cp:coreProperties>
</file>